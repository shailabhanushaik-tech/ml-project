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vo" charset="1" panose="02020502070400060406"/>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86539" y="1896146"/>
            <a:ext cx="17314923" cy="3247354"/>
          </a:xfrm>
          <a:prstGeom prst="rect">
            <a:avLst/>
          </a:prstGeom>
        </p:spPr>
        <p:txBody>
          <a:bodyPr anchor="t" rtlCol="false" tIns="0" lIns="0" bIns="0" rIns="0">
            <a:spAutoFit/>
          </a:bodyPr>
          <a:lstStyle/>
          <a:p>
            <a:pPr algn="ctr">
              <a:lnSpc>
                <a:spcPts val="8457"/>
              </a:lnSpc>
            </a:pPr>
            <a:r>
              <a:rPr lang="en-US" sz="7688">
                <a:solidFill>
                  <a:srgbClr val="A86D3A"/>
                </a:solidFill>
                <a:latin typeface="Ovo"/>
                <a:ea typeface="Ovo"/>
                <a:cs typeface="Ovo"/>
                <a:sym typeface="Ovo"/>
              </a:rPr>
              <a:t>Chronic Kidney Disease Prediction Using XGBoost and LightGBM Gradient-Boosted Trees</a:t>
            </a:r>
          </a:p>
        </p:txBody>
      </p:sp>
      <p:sp>
        <p:nvSpPr>
          <p:cNvPr name="TextBox 3" id="3"/>
          <p:cNvSpPr txBox="true"/>
          <p:nvPr/>
        </p:nvSpPr>
        <p:spPr>
          <a:xfrm rot="0">
            <a:off x="2381351" y="6007017"/>
            <a:ext cx="15420111" cy="2070301"/>
          </a:xfrm>
          <a:prstGeom prst="rect">
            <a:avLst/>
          </a:prstGeom>
        </p:spPr>
        <p:txBody>
          <a:bodyPr anchor="t" rtlCol="false" tIns="0" lIns="0" bIns="0" rIns="0">
            <a:spAutoFit/>
          </a:bodyPr>
          <a:lstStyle/>
          <a:p>
            <a:pPr algn="ctr">
              <a:lnSpc>
                <a:spcPts val="5498"/>
              </a:lnSpc>
            </a:pPr>
            <a:r>
              <a:rPr lang="en-US" sz="3927">
                <a:solidFill>
                  <a:srgbClr val="000000"/>
                </a:solidFill>
                <a:latin typeface="Ovo"/>
                <a:ea typeface="Ovo"/>
                <a:cs typeface="Ovo"/>
                <a:sym typeface="Ovo"/>
              </a:rPr>
              <a:t>Presented by:</a:t>
            </a:r>
          </a:p>
          <a:p>
            <a:pPr algn="ctr">
              <a:lnSpc>
                <a:spcPts val="5498"/>
              </a:lnSpc>
            </a:pPr>
            <a:r>
              <a:rPr lang="en-US" sz="3927">
                <a:solidFill>
                  <a:srgbClr val="000000"/>
                </a:solidFill>
                <a:latin typeface="Ovo"/>
                <a:ea typeface="Ovo"/>
                <a:cs typeface="Ovo"/>
                <a:sym typeface="Ovo"/>
              </a:rPr>
              <a:t>2520030170-ABHIRAM</a:t>
            </a:r>
          </a:p>
          <a:p>
            <a:pPr algn="ctr">
              <a:lnSpc>
                <a:spcPts val="5498"/>
              </a:lnSpc>
              <a:spcBef>
                <a:spcPct val="0"/>
              </a:spcBef>
            </a:pPr>
            <a:r>
              <a:rPr lang="en-US" sz="3927">
                <a:solidFill>
                  <a:srgbClr val="000000"/>
                </a:solidFill>
                <a:latin typeface="Ovo"/>
                <a:ea typeface="Ovo"/>
                <a:cs typeface="Ovo"/>
                <a:sym typeface="Ovo"/>
              </a:rPr>
              <a:t>2520030299-SHAILA</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54063"/>
            <a:ext cx="13422789" cy="1149350"/>
          </a:xfrm>
          <a:prstGeom prst="rect">
            <a:avLst/>
          </a:prstGeom>
        </p:spPr>
        <p:txBody>
          <a:bodyPr anchor="t" rtlCol="false" tIns="0" lIns="0" bIns="0" rIns="0">
            <a:spAutoFit/>
          </a:bodyPr>
          <a:lstStyle/>
          <a:p>
            <a:pPr algn="l" marL="0" indent="0" lvl="0">
              <a:lnSpc>
                <a:spcPts val="8800"/>
              </a:lnSpc>
            </a:pPr>
            <a:r>
              <a:rPr lang="en-US" sz="8000">
                <a:solidFill>
                  <a:srgbClr val="A86D3A"/>
                </a:solidFill>
                <a:latin typeface="Ovo"/>
                <a:ea typeface="Ovo"/>
                <a:cs typeface="Ovo"/>
                <a:sym typeface="Ovo"/>
              </a:rPr>
              <a:t>T</a:t>
            </a:r>
            <a:r>
              <a:rPr lang="en-US" sz="8000">
                <a:solidFill>
                  <a:srgbClr val="A86D3A"/>
                </a:solidFill>
                <a:latin typeface="Ovo"/>
                <a:ea typeface="Ovo"/>
                <a:cs typeface="Ovo"/>
                <a:sym typeface="Ovo"/>
              </a:rPr>
              <a:t>itle Justification</a:t>
            </a:r>
          </a:p>
        </p:txBody>
      </p:sp>
      <p:sp>
        <p:nvSpPr>
          <p:cNvPr name="TextBox 3" id="3"/>
          <p:cNvSpPr txBox="true"/>
          <p:nvPr/>
        </p:nvSpPr>
        <p:spPr>
          <a:xfrm rot="0">
            <a:off x="0" y="2162684"/>
            <a:ext cx="17861396" cy="6362850"/>
          </a:xfrm>
          <a:prstGeom prst="rect">
            <a:avLst/>
          </a:prstGeom>
        </p:spPr>
        <p:txBody>
          <a:bodyPr anchor="t" rtlCol="false" tIns="0" lIns="0" bIns="0" rIns="0">
            <a:spAutoFit/>
          </a:bodyPr>
          <a:lstStyle/>
          <a:p>
            <a:pPr algn="l" marL="861879" indent="-430940" lvl="1">
              <a:lnSpc>
                <a:spcPts val="5588"/>
              </a:lnSpc>
              <a:spcBef>
                <a:spcPct val="0"/>
              </a:spcBef>
              <a:buFont typeface="Arial"/>
              <a:buChar char="•"/>
            </a:pPr>
            <a:r>
              <a:rPr lang="en-US" sz="3992">
                <a:solidFill>
                  <a:srgbClr val="000000"/>
                </a:solidFill>
                <a:latin typeface="Ovo"/>
                <a:ea typeface="Ovo"/>
                <a:cs typeface="Ovo"/>
                <a:sym typeface="Ovo"/>
              </a:rPr>
              <a:t>Ch</a:t>
            </a:r>
            <a:r>
              <a:rPr lang="en-US" sz="3992">
                <a:solidFill>
                  <a:srgbClr val="000000"/>
                </a:solidFill>
                <a:latin typeface="Ovo"/>
                <a:ea typeface="Ovo"/>
                <a:cs typeface="Ovo"/>
                <a:sym typeface="Ovo"/>
              </a:rPr>
              <a:t>ronic Kidney Disease Prediction → Predicting whether a patient has CKD or Not CKD.</a:t>
            </a:r>
          </a:p>
          <a:p>
            <a:pPr algn="l" marL="861879" indent="-430940" lvl="1">
              <a:lnSpc>
                <a:spcPts val="5588"/>
              </a:lnSpc>
              <a:spcBef>
                <a:spcPct val="0"/>
              </a:spcBef>
              <a:buFont typeface="Arial"/>
              <a:buChar char="•"/>
            </a:pPr>
            <a:r>
              <a:rPr lang="en-US" sz="3992">
                <a:solidFill>
                  <a:srgbClr val="000000"/>
                </a:solidFill>
                <a:latin typeface="Ovo"/>
                <a:ea typeface="Ovo"/>
                <a:cs typeface="Ovo"/>
                <a:sym typeface="Ovo"/>
              </a:rPr>
              <a:t>XGBoost and LightGBM → Two machine learning algorithms used for prediction.</a:t>
            </a:r>
          </a:p>
          <a:p>
            <a:pPr algn="l" marL="861879" indent="-430940" lvl="1">
              <a:lnSpc>
                <a:spcPts val="5588"/>
              </a:lnSpc>
              <a:spcBef>
                <a:spcPct val="0"/>
              </a:spcBef>
              <a:buFont typeface="Arial"/>
              <a:buChar char="•"/>
            </a:pPr>
            <a:r>
              <a:rPr lang="en-US" sz="3992">
                <a:solidFill>
                  <a:srgbClr val="000000"/>
                </a:solidFill>
                <a:latin typeface="Ovo"/>
                <a:ea typeface="Ovo"/>
                <a:cs typeface="Ovo"/>
                <a:sym typeface="Ovo"/>
              </a:rPr>
              <a:t>Gradient-Boosted Trees → Both XGBoost and LightGBM are based on gradient-boosted decision trees.</a:t>
            </a:r>
          </a:p>
          <a:p>
            <a:pPr algn="l" marL="861879" indent="-430940" lvl="1">
              <a:lnSpc>
                <a:spcPts val="5588"/>
              </a:lnSpc>
              <a:spcBef>
                <a:spcPct val="0"/>
              </a:spcBef>
              <a:buFont typeface="Arial"/>
              <a:buChar char="•"/>
            </a:pPr>
            <a:r>
              <a:rPr lang="en-US" sz="3992">
                <a:solidFill>
                  <a:srgbClr val="000000"/>
                </a:solidFill>
                <a:latin typeface="Ovo"/>
                <a:ea typeface="Ovo"/>
                <a:cs typeface="Ovo"/>
                <a:sym typeface="Ovo"/>
              </a:rPr>
              <a:t>Patient Clinical Data → Medical and laboratory parameters are used for prediction.</a:t>
            </a:r>
          </a:p>
          <a:p>
            <a:pPr algn="l" marL="0" indent="0" lvl="0">
              <a:lnSpc>
                <a:spcPts val="5588"/>
              </a:lnSpc>
              <a:spcBef>
                <a:spcPct val="0"/>
              </a:spcBef>
            </a:pP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1310" y="904875"/>
            <a:ext cx="14638775" cy="1149350"/>
          </a:xfrm>
          <a:prstGeom prst="rect">
            <a:avLst/>
          </a:prstGeom>
        </p:spPr>
        <p:txBody>
          <a:bodyPr anchor="t" rtlCol="false" tIns="0" lIns="0" bIns="0" rIns="0">
            <a:spAutoFit/>
          </a:bodyPr>
          <a:lstStyle/>
          <a:p>
            <a:pPr algn="l" marL="0" indent="0" lvl="0">
              <a:lnSpc>
                <a:spcPts val="8800"/>
              </a:lnSpc>
            </a:pPr>
            <a:r>
              <a:rPr lang="en-US" sz="8000">
                <a:solidFill>
                  <a:srgbClr val="A86D3A"/>
                </a:solidFill>
                <a:latin typeface="Ovo"/>
                <a:ea typeface="Ovo"/>
                <a:cs typeface="Ovo"/>
                <a:sym typeface="Ovo"/>
              </a:rPr>
              <a:t>DOMAIN</a:t>
            </a:r>
            <a:r>
              <a:rPr lang="en-US" sz="8000">
                <a:solidFill>
                  <a:srgbClr val="A86D3A"/>
                </a:solidFill>
                <a:latin typeface="Ovo"/>
                <a:ea typeface="Ovo"/>
                <a:cs typeface="Ovo"/>
                <a:sym typeface="Ovo"/>
              </a:rPr>
              <a:t> &amp; OBJECTIVE SCOPE</a:t>
            </a:r>
          </a:p>
        </p:txBody>
      </p:sp>
      <p:sp>
        <p:nvSpPr>
          <p:cNvPr name="TextBox 3" id="3"/>
          <p:cNvSpPr txBox="true"/>
          <p:nvPr/>
        </p:nvSpPr>
        <p:spPr>
          <a:xfrm rot="0">
            <a:off x="741310" y="2327795"/>
            <a:ext cx="17474236" cy="6930505"/>
          </a:xfrm>
          <a:prstGeom prst="rect">
            <a:avLst/>
          </a:prstGeom>
        </p:spPr>
        <p:txBody>
          <a:bodyPr anchor="t" rtlCol="false" tIns="0" lIns="0" bIns="0" rIns="0">
            <a:spAutoFit/>
          </a:bodyPr>
          <a:lstStyle/>
          <a:p>
            <a:pPr algn="l">
              <a:lnSpc>
                <a:spcPts val="5467"/>
              </a:lnSpc>
              <a:spcBef>
                <a:spcPct val="0"/>
              </a:spcBef>
            </a:pPr>
            <a:r>
              <a:rPr lang="en-US" sz="3905">
                <a:solidFill>
                  <a:srgbClr val="000000"/>
                </a:solidFill>
                <a:latin typeface="Ovo"/>
                <a:ea typeface="Ovo"/>
                <a:cs typeface="Ovo"/>
                <a:sym typeface="Ovo"/>
              </a:rPr>
              <a:t>Healthca</a:t>
            </a:r>
            <a:r>
              <a:rPr lang="en-US" sz="3905">
                <a:solidFill>
                  <a:srgbClr val="000000"/>
                </a:solidFill>
                <a:latin typeface="Ovo"/>
                <a:ea typeface="Ovo"/>
                <a:cs typeface="Ovo"/>
                <a:sym typeface="Ovo"/>
              </a:rPr>
              <a:t>re &amp; Machine Learning</a:t>
            </a:r>
          </a:p>
          <a:p>
            <a:pPr algn="l">
              <a:lnSpc>
                <a:spcPts val="5467"/>
              </a:lnSpc>
              <a:spcBef>
                <a:spcPct val="0"/>
              </a:spcBef>
            </a:pPr>
            <a:r>
              <a:rPr lang="en-US" sz="3905">
                <a:solidFill>
                  <a:srgbClr val="000000"/>
                </a:solidFill>
                <a:latin typeface="Ovo"/>
                <a:ea typeface="Ovo"/>
                <a:cs typeface="Ovo"/>
                <a:sym typeface="Ovo"/>
              </a:rPr>
              <a:t>Domain:</a:t>
            </a:r>
          </a:p>
          <a:p>
            <a:pPr algn="l" marL="843198" indent="-421599" lvl="1">
              <a:lnSpc>
                <a:spcPts val="5467"/>
              </a:lnSpc>
              <a:spcBef>
                <a:spcPct val="0"/>
              </a:spcBef>
              <a:buFont typeface="Arial"/>
              <a:buChar char="•"/>
            </a:pPr>
            <a:r>
              <a:rPr lang="en-US" sz="3905">
                <a:solidFill>
                  <a:srgbClr val="000000"/>
                </a:solidFill>
                <a:latin typeface="Ovo"/>
                <a:ea typeface="Ovo"/>
                <a:cs typeface="Ovo"/>
                <a:sym typeface="Ovo"/>
              </a:rPr>
              <a:t>Healthcare / Medical Data Analytics</a:t>
            </a:r>
          </a:p>
          <a:p>
            <a:pPr algn="l" marL="843198" indent="-421599" lvl="1">
              <a:lnSpc>
                <a:spcPts val="5467"/>
              </a:lnSpc>
              <a:spcBef>
                <a:spcPct val="0"/>
              </a:spcBef>
              <a:buFont typeface="Arial"/>
              <a:buChar char="•"/>
            </a:pPr>
            <a:r>
              <a:rPr lang="en-US" sz="3905">
                <a:solidFill>
                  <a:srgbClr val="000000"/>
                </a:solidFill>
                <a:latin typeface="Ovo"/>
                <a:ea typeface="Ovo"/>
                <a:cs typeface="Ovo"/>
                <a:sym typeface="Ovo"/>
              </a:rPr>
              <a:t>Machine Learning Classification</a:t>
            </a:r>
          </a:p>
          <a:p>
            <a:pPr algn="l">
              <a:lnSpc>
                <a:spcPts val="5467"/>
              </a:lnSpc>
              <a:spcBef>
                <a:spcPct val="0"/>
              </a:spcBef>
            </a:pPr>
            <a:r>
              <a:rPr lang="en-US" sz="3905">
                <a:solidFill>
                  <a:srgbClr val="000000"/>
                </a:solidFill>
                <a:latin typeface="Ovo"/>
                <a:ea typeface="Ovo"/>
                <a:cs typeface="Ovo"/>
                <a:sym typeface="Ovo"/>
              </a:rPr>
              <a:t>Objective:</a:t>
            </a:r>
          </a:p>
          <a:p>
            <a:pPr algn="l" marL="843198" indent="-421599" lvl="1">
              <a:lnSpc>
                <a:spcPts val="5467"/>
              </a:lnSpc>
              <a:spcBef>
                <a:spcPct val="0"/>
              </a:spcBef>
              <a:buFont typeface="Arial"/>
              <a:buChar char="•"/>
            </a:pPr>
            <a:r>
              <a:rPr lang="en-US" sz="3905">
                <a:solidFill>
                  <a:srgbClr val="000000"/>
                </a:solidFill>
                <a:latin typeface="Ovo"/>
                <a:ea typeface="Ovo"/>
                <a:cs typeface="Ovo"/>
                <a:sym typeface="Ovo"/>
              </a:rPr>
              <a:t>Predict whether a patient is likely to have Chronic Kidney Disease (CKD) or Not CKD.</a:t>
            </a:r>
          </a:p>
          <a:p>
            <a:pPr algn="l" marL="843198" indent="-421599" lvl="1">
              <a:lnSpc>
                <a:spcPts val="5467"/>
              </a:lnSpc>
              <a:spcBef>
                <a:spcPct val="0"/>
              </a:spcBef>
              <a:buFont typeface="Arial"/>
              <a:buChar char="•"/>
            </a:pPr>
            <a:r>
              <a:rPr lang="en-US" sz="3905">
                <a:solidFill>
                  <a:srgbClr val="000000"/>
                </a:solidFill>
                <a:latin typeface="Ovo"/>
                <a:ea typeface="Ovo"/>
                <a:cs typeface="Ovo"/>
                <a:sym typeface="Ovo"/>
              </a:rPr>
              <a:t>Use patient clinical and laboratory information as input.</a:t>
            </a:r>
          </a:p>
          <a:p>
            <a:pPr algn="l" marL="843198" indent="-421599" lvl="1">
              <a:lnSpc>
                <a:spcPts val="5467"/>
              </a:lnSpc>
              <a:spcBef>
                <a:spcPct val="0"/>
              </a:spcBef>
              <a:buFont typeface="Arial"/>
              <a:buChar char="•"/>
            </a:pPr>
            <a:r>
              <a:rPr lang="en-US" sz="3905">
                <a:solidFill>
                  <a:srgbClr val="000000"/>
                </a:solidFill>
                <a:latin typeface="Ovo"/>
                <a:ea typeface="Ovo"/>
                <a:cs typeface="Ovo"/>
                <a:sym typeface="Ovo"/>
              </a:rPr>
              <a:t>Train and compare XGBoost and LightGBM models.</a:t>
            </a:r>
          </a:p>
          <a:p>
            <a:pPr algn="l" marL="0" indent="0" lvl="0">
              <a:lnSpc>
                <a:spcPts val="5467"/>
              </a:lnSpc>
              <a:spcBef>
                <a:spcPct val="0"/>
              </a:spcBef>
            </a:pP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44841" y="1095375"/>
            <a:ext cx="14334778" cy="2263775"/>
          </a:xfrm>
          <a:prstGeom prst="rect">
            <a:avLst/>
          </a:prstGeom>
        </p:spPr>
        <p:txBody>
          <a:bodyPr anchor="t" rtlCol="false" tIns="0" lIns="0" bIns="0" rIns="0">
            <a:spAutoFit/>
          </a:bodyPr>
          <a:lstStyle/>
          <a:p>
            <a:pPr algn="l">
              <a:lnSpc>
                <a:spcPts val="8800"/>
              </a:lnSpc>
            </a:pPr>
            <a:r>
              <a:rPr lang="en-US" sz="8000">
                <a:solidFill>
                  <a:srgbClr val="A86D3A"/>
                </a:solidFill>
                <a:latin typeface="Ovo"/>
                <a:ea typeface="Ovo"/>
                <a:cs typeface="Ovo"/>
                <a:sym typeface="Ovo"/>
              </a:rPr>
              <a:t>PROBLEM</a:t>
            </a:r>
            <a:r>
              <a:rPr lang="en-US" sz="8000">
                <a:solidFill>
                  <a:srgbClr val="A86D3A"/>
                </a:solidFill>
                <a:latin typeface="Ovo"/>
                <a:ea typeface="Ovo"/>
                <a:cs typeface="Ovo"/>
                <a:sym typeface="Ovo"/>
              </a:rPr>
              <a:t> STATEMENT</a:t>
            </a:r>
          </a:p>
          <a:p>
            <a:pPr algn="l" marL="0" indent="0" lvl="0">
              <a:lnSpc>
                <a:spcPts val="8800"/>
              </a:lnSpc>
            </a:pPr>
          </a:p>
        </p:txBody>
      </p:sp>
      <p:sp>
        <p:nvSpPr>
          <p:cNvPr name="TextBox 3" id="3"/>
          <p:cNvSpPr txBox="true"/>
          <p:nvPr/>
        </p:nvSpPr>
        <p:spPr>
          <a:xfrm rot="0">
            <a:off x="344841" y="2607373"/>
            <a:ext cx="17943159" cy="6268974"/>
          </a:xfrm>
          <a:prstGeom prst="rect">
            <a:avLst/>
          </a:prstGeom>
        </p:spPr>
        <p:txBody>
          <a:bodyPr anchor="t" rtlCol="false" tIns="0" lIns="0" bIns="0" rIns="0">
            <a:spAutoFit/>
          </a:bodyPr>
          <a:lstStyle/>
          <a:p>
            <a:pPr algn="l" marL="0" indent="0" lvl="0">
              <a:lnSpc>
                <a:spcPts val="6196"/>
              </a:lnSpc>
              <a:spcBef>
                <a:spcPct val="0"/>
              </a:spcBef>
            </a:pPr>
            <a:r>
              <a:rPr lang="en-US" sz="4426">
                <a:solidFill>
                  <a:srgbClr val="000000"/>
                </a:solidFill>
                <a:latin typeface="Ovo"/>
                <a:ea typeface="Ovo"/>
                <a:cs typeface="Ovo"/>
                <a:sym typeface="Ovo"/>
              </a:rPr>
              <a:t>Ch</a:t>
            </a:r>
            <a:r>
              <a:rPr lang="en-US" sz="4426">
                <a:solidFill>
                  <a:srgbClr val="000000"/>
                </a:solidFill>
                <a:latin typeface="Ovo"/>
                <a:ea typeface="Ovo"/>
                <a:cs typeface="Ovo"/>
                <a:sym typeface="Ovo"/>
              </a:rPr>
              <a:t>ronic Kidney Disease (CKD) requires timely identification and medical evaluation. However, analyzing multiple clinical and laboratory parameters such as age, blood pressure, blood glucose, serum creatinine, and hemoglobin to identify CKD patterns can be challenging. Therefore, this project aims to develop a machine learning-based system that predicts whether a patient is likely to have CKD or not using patient clinical data, while evaluating and comparing XGBoost and LightGBM models.</a:t>
            </a: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603250"/>
            <a:ext cx="14880411" cy="1150122"/>
          </a:xfrm>
          <a:prstGeom prst="rect">
            <a:avLst/>
          </a:prstGeom>
        </p:spPr>
        <p:txBody>
          <a:bodyPr anchor="t" rtlCol="false" tIns="0" lIns="0" bIns="0" rIns="0">
            <a:spAutoFit/>
          </a:bodyPr>
          <a:lstStyle/>
          <a:p>
            <a:pPr algn="ctr" marL="0" indent="0" lvl="0">
              <a:lnSpc>
                <a:spcPts val="8800"/>
              </a:lnSpc>
            </a:pPr>
            <a:r>
              <a:rPr lang="en-US" sz="8000">
                <a:solidFill>
                  <a:srgbClr val="A86D3A"/>
                </a:solidFill>
                <a:latin typeface="Ovo"/>
                <a:ea typeface="Ovo"/>
                <a:cs typeface="Ovo"/>
                <a:sym typeface="Ovo"/>
              </a:rPr>
              <a:t>WHY XGBOOST &amp; LIGHTGBM?</a:t>
            </a:r>
          </a:p>
        </p:txBody>
      </p:sp>
      <p:sp>
        <p:nvSpPr>
          <p:cNvPr name="TextBox 3" id="3"/>
          <p:cNvSpPr txBox="true"/>
          <p:nvPr/>
        </p:nvSpPr>
        <p:spPr>
          <a:xfrm rot="0">
            <a:off x="0" y="2307488"/>
            <a:ext cx="9262953" cy="7563388"/>
          </a:xfrm>
          <a:prstGeom prst="rect">
            <a:avLst/>
          </a:prstGeom>
        </p:spPr>
        <p:txBody>
          <a:bodyPr anchor="t" rtlCol="false" tIns="0" lIns="0" bIns="0" rIns="0">
            <a:spAutoFit/>
          </a:bodyPr>
          <a:lstStyle/>
          <a:p>
            <a:pPr algn="l">
              <a:lnSpc>
                <a:spcPts val="10735"/>
              </a:lnSpc>
              <a:spcBef>
                <a:spcPct val="0"/>
              </a:spcBef>
            </a:pPr>
            <a:r>
              <a:rPr lang="en-US" sz="7668">
                <a:solidFill>
                  <a:srgbClr val="000000"/>
                </a:solidFill>
                <a:latin typeface="Ovo"/>
                <a:ea typeface="Ovo"/>
                <a:cs typeface="Ovo"/>
                <a:sym typeface="Ovo"/>
              </a:rPr>
              <a:t>          XG</a:t>
            </a:r>
            <a:r>
              <a:rPr lang="en-US" sz="7668">
                <a:solidFill>
                  <a:srgbClr val="000000"/>
                </a:solidFill>
                <a:latin typeface="Ovo"/>
                <a:ea typeface="Ovo"/>
                <a:cs typeface="Ovo"/>
                <a:sym typeface="Ovo"/>
              </a:rPr>
              <a:t>Boost</a:t>
            </a:r>
          </a:p>
          <a:p>
            <a:pPr algn="l" marL="848818" indent="-424409" lvl="1">
              <a:lnSpc>
                <a:spcPts val="5504"/>
              </a:lnSpc>
              <a:spcBef>
                <a:spcPct val="0"/>
              </a:spcBef>
              <a:buFont typeface="Arial"/>
              <a:buChar char="•"/>
            </a:pPr>
            <a:r>
              <a:rPr lang="en-US" sz="3931">
                <a:solidFill>
                  <a:srgbClr val="000000"/>
                </a:solidFill>
                <a:latin typeface="Ovo"/>
                <a:ea typeface="Ovo"/>
                <a:cs typeface="Ovo"/>
                <a:sym typeface="Ovo"/>
              </a:rPr>
              <a:t>Gradient-boosted decision-tree algorithm.</a:t>
            </a:r>
          </a:p>
          <a:p>
            <a:pPr algn="l" marL="848818" indent="-424409" lvl="1">
              <a:lnSpc>
                <a:spcPts val="5504"/>
              </a:lnSpc>
              <a:spcBef>
                <a:spcPct val="0"/>
              </a:spcBef>
              <a:buFont typeface="Arial"/>
              <a:buChar char="•"/>
            </a:pPr>
            <a:r>
              <a:rPr lang="en-US" sz="3931">
                <a:solidFill>
                  <a:srgbClr val="000000"/>
                </a:solidFill>
                <a:latin typeface="Ovo"/>
                <a:ea typeface="Ovo"/>
                <a:cs typeface="Ovo"/>
                <a:sym typeface="Ovo"/>
              </a:rPr>
              <a:t>Learns complex patterns from patient data.</a:t>
            </a:r>
          </a:p>
          <a:p>
            <a:pPr algn="l" marL="848818" indent="-424409" lvl="1">
              <a:lnSpc>
                <a:spcPts val="5504"/>
              </a:lnSpc>
              <a:spcBef>
                <a:spcPct val="0"/>
              </a:spcBef>
              <a:buFont typeface="Arial"/>
              <a:buChar char="•"/>
            </a:pPr>
            <a:r>
              <a:rPr lang="en-US" sz="3931">
                <a:solidFill>
                  <a:srgbClr val="000000"/>
                </a:solidFill>
                <a:latin typeface="Ovo"/>
                <a:ea typeface="Ovo"/>
                <a:cs typeface="Ovo"/>
                <a:sym typeface="Ovo"/>
              </a:rPr>
              <a:t>Uses regularization to help control overfitting.</a:t>
            </a:r>
          </a:p>
          <a:p>
            <a:pPr algn="l" marL="848818" indent="-424409" lvl="1">
              <a:lnSpc>
                <a:spcPts val="5504"/>
              </a:lnSpc>
              <a:spcBef>
                <a:spcPct val="0"/>
              </a:spcBef>
              <a:buFont typeface="Arial"/>
              <a:buChar char="•"/>
            </a:pPr>
            <a:r>
              <a:rPr lang="en-US" sz="3931">
                <a:solidFill>
                  <a:srgbClr val="000000"/>
                </a:solidFill>
                <a:latin typeface="Ovo"/>
                <a:ea typeface="Ovo"/>
                <a:cs typeface="Ovo"/>
                <a:sym typeface="Ovo"/>
              </a:rPr>
              <a:t>Suitable for structured/tabular datasets.</a:t>
            </a:r>
          </a:p>
          <a:p>
            <a:pPr algn="l" marL="0" indent="0" lvl="0">
              <a:lnSpc>
                <a:spcPts val="5504"/>
              </a:lnSpc>
              <a:spcBef>
                <a:spcPct val="0"/>
              </a:spcBef>
            </a:pPr>
            <a:r>
              <a:rPr lang="en-US" sz="3931">
                <a:solidFill>
                  <a:srgbClr val="000000"/>
                </a:solidFill>
                <a:latin typeface="Ovo"/>
                <a:ea typeface="Ovo"/>
                <a:cs typeface="Ovo"/>
                <a:sym typeface="Ovo"/>
              </a:rPr>
              <a:t>. </a:t>
            </a:r>
          </a:p>
        </p:txBody>
      </p:sp>
      <p:sp>
        <p:nvSpPr>
          <p:cNvPr name="TextBox 4" id="4"/>
          <p:cNvSpPr txBox="true"/>
          <p:nvPr/>
        </p:nvSpPr>
        <p:spPr>
          <a:xfrm rot="0">
            <a:off x="8732944" y="2288438"/>
            <a:ext cx="9555056" cy="7419717"/>
          </a:xfrm>
          <a:prstGeom prst="rect">
            <a:avLst/>
          </a:prstGeom>
        </p:spPr>
        <p:txBody>
          <a:bodyPr anchor="t" rtlCol="false" tIns="0" lIns="0" bIns="0" rIns="0">
            <a:spAutoFit/>
          </a:bodyPr>
          <a:lstStyle/>
          <a:p>
            <a:pPr algn="l">
              <a:lnSpc>
                <a:spcPts val="12443"/>
              </a:lnSpc>
              <a:spcBef>
                <a:spcPct val="0"/>
              </a:spcBef>
            </a:pPr>
            <a:r>
              <a:rPr lang="en-US" sz="8888">
                <a:solidFill>
                  <a:srgbClr val="000000"/>
                </a:solidFill>
                <a:latin typeface="Ovo"/>
                <a:ea typeface="Ovo"/>
                <a:cs typeface="Ovo"/>
                <a:sym typeface="Ovo"/>
              </a:rPr>
              <a:t>      LightG</a:t>
            </a:r>
            <a:r>
              <a:rPr lang="en-US" sz="8888">
                <a:solidFill>
                  <a:srgbClr val="000000"/>
                </a:solidFill>
                <a:latin typeface="Ovo"/>
                <a:ea typeface="Ovo"/>
                <a:cs typeface="Ovo"/>
                <a:sym typeface="Ovo"/>
              </a:rPr>
              <a:t>BM</a:t>
            </a:r>
          </a:p>
          <a:p>
            <a:pPr algn="l" marL="891149" indent="-445574" lvl="1">
              <a:lnSpc>
                <a:spcPts val="5778"/>
              </a:lnSpc>
              <a:spcBef>
                <a:spcPct val="0"/>
              </a:spcBef>
              <a:buFont typeface="Arial"/>
              <a:buChar char="•"/>
            </a:pPr>
            <a:r>
              <a:rPr lang="en-US" sz="4127">
                <a:solidFill>
                  <a:srgbClr val="000000"/>
                </a:solidFill>
                <a:latin typeface="Ovo"/>
                <a:ea typeface="Ovo"/>
                <a:cs typeface="Ovo"/>
                <a:sym typeface="Ovo"/>
              </a:rPr>
              <a:t>Gradient-boosted tree algorithm.</a:t>
            </a:r>
          </a:p>
          <a:p>
            <a:pPr algn="l" marL="891149" indent="-445574" lvl="1">
              <a:lnSpc>
                <a:spcPts val="5778"/>
              </a:lnSpc>
              <a:spcBef>
                <a:spcPct val="0"/>
              </a:spcBef>
              <a:buFont typeface="Arial"/>
              <a:buChar char="•"/>
            </a:pPr>
            <a:r>
              <a:rPr lang="en-US" sz="4127">
                <a:solidFill>
                  <a:srgbClr val="000000"/>
                </a:solidFill>
                <a:latin typeface="Ovo"/>
                <a:ea typeface="Ovo"/>
                <a:cs typeface="Ovo"/>
                <a:sym typeface="Ovo"/>
              </a:rPr>
              <a:t>D</a:t>
            </a:r>
            <a:r>
              <a:rPr lang="en-US" sz="4127">
                <a:solidFill>
                  <a:srgbClr val="000000"/>
                </a:solidFill>
                <a:latin typeface="Ovo"/>
                <a:ea typeface="Ovo"/>
                <a:cs typeface="Ovo"/>
                <a:sym typeface="Ovo"/>
              </a:rPr>
              <a:t>esigned for efficient and fast model training.</a:t>
            </a:r>
          </a:p>
          <a:p>
            <a:pPr algn="l" marL="891149" indent="-445574" lvl="1">
              <a:lnSpc>
                <a:spcPts val="5778"/>
              </a:lnSpc>
              <a:spcBef>
                <a:spcPct val="0"/>
              </a:spcBef>
              <a:buFont typeface="Arial"/>
              <a:buChar char="•"/>
            </a:pPr>
            <a:r>
              <a:rPr lang="en-US" sz="4127">
                <a:solidFill>
                  <a:srgbClr val="000000"/>
                </a:solidFill>
                <a:latin typeface="Ovo"/>
                <a:ea typeface="Ovo"/>
                <a:cs typeface="Ovo"/>
                <a:sym typeface="Ovo"/>
              </a:rPr>
              <a:t>Suitable for large-scale tabular data.</a:t>
            </a:r>
          </a:p>
          <a:p>
            <a:pPr algn="l" marL="891149" indent="-445574" lvl="1">
              <a:lnSpc>
                <a:spcPts val="5778"/>
              </a:lnSpc>
              <a:spcBef>
                <a:spcPct val="0"/>
              </a:spcBef>
              <a:buFont typeface="Arial"/>
              <a:buChar char="•"/>
            </a:pPr>
            <a:r>
              <a:rPr lang="en-US" sz="4127">
                <a:solidFill>
                  <a:srgbClr val="000000"/>
                </a:solidFill>
                <a:latin typeface="Ovo"/>
                <a:ea typeface="Ovo"/>
                <a:cs typeface="Ovo"/>
                <a:sym typeface="Ovo"/>
              </a:rPr>
              <a:t>Can efficiently handle complex feature relationships.</a:t>
            </a:r>
          </a:p>
          <a:p>
            <a:pPr algn="l" marL="891149" indent="-445574" lvl="1">
              <a:lnSpc>
                <a:spcPts val="5778"/>
              </a:lnSpc>
              <a:spcBef>
                <a:spcPct val="0"/>
              </a:spcBef>
              <a:buFont typeface="Arial"/>
              <a:buChar char="•"/>
            </a:pPr>
          </a:p>
          <a:p>
            <a:pPr algn="l" marL="0" indent="0" lvl="0">
              <a:lnSpc>
                <a:spcPts val="5778"/>
              </a:lnSpc>
              <a:spcBef>
                <a:spcPct val="0"/>
              </a:spcBef>
            </a:pPr>
            <a:r>
              <a:rPr lang="en-US" sz="4127">
                <a:solidFill>
                  <a:srgbClr val="000000"/>
                </a:solidFill>
                <a:latin typeface="Ovo"/>
                <a:ea typeface="Ovo"/>
                <a:cs typeface="Ovo"/>
                <a:sym typeface="Ovo"/>
              </a:rPr>
              <a:t>. </a:t>
            </a:r>
          </a:p>
        </p:txBody>
      </p:sp>
      <p:sp>
        <p:nvSpPr>
          <p:cNvPr name="TextBox 5" id="5"/>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5</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18903" y="296863"/>
            <a:ext cx="13422789" cy="1149350"/>
          </a:xfrm>
          <a:prstGeom prst="rect">
            <a:avLst/>
          </a:prstGeom>
        </p:spPr>
        <p:txBody>
          <a:bodyPr anchor="t" rtlCol="false" tIns="0" lIns="0" bIns="0" rIns="0">
            <a:spAutoFit/>
          </a:bodyPr>
          <a:lstStyle/>
          <a:p>
            <a:pPr algn="l" marL="0" indent="0" lvl="0">
              <a:lnSpc>
                <a:spcPts val="8800"/>
              </a:lnSpc>
            </a:pPr>
            <a:r>
              <a:rPr lang="en-US" sz="8000">
                <a:solidFill>
                  <a:srgbClr val="A86D3A"/>
                </a:solidFill>
                <a:latin typeface="Ovo"/>
                <a:ea typeface="Ovo"/>
                <a:cs typeface="Ovo"/>
                <a:sym typeface="Ovo"/>
              </a:rPr>
              <a:t>KEY</a:t>
            </a:r>
            <a:r>
              <a:rPr lang="en-US" sz="8000">
                <a:solidFill>
                  <a:srgbClr val="A86D3A"/>
                </a:solidFill>
                <a:latin typeface="Ovo"/>
                <a:ea typeface="Ovo"/>
                <a:cs typeface="Ovo"/>
                <a:sym typeface="Ovo"/>
              </a:rPr>
              <a:t> MODEL ADVANTAGES</a:t>
            </a:r>
          </a:p>
        </p:txBody>
      </p:sp>
      <p:sp>
        <p:nvSpPr>
          <p:cNvPr name="TextBox 3" id="3"/>
          <p:cNvSpPr txBox="true"/>
          <p:nvPr/>
        </p:nvSpPr>
        <p:spPr>
          <a:xfrm rot="0">
            <a:off x="334396" y="1706259"/>
            <a:ext cx="18288000" cy="8552035"/>
          </a:xfrm>
          <a:prstGeom prst="rect">
            <a:avLst/>
          </a:prstGeom>
        </p:spPr>
        <p:txBody>
          <a:bodyPr anchor="t" rtlCol="false" tIns="0" lIns="0" bIns="0" rIns="0">
            <a:spAutoFit/>
          </a:bodyPr>
          <a:lstStyle/>
          <a:p>
            <a:pPr algn="l">
              <a:lnSpc>
                <a:spcPts val="6133"/>
              </a:lnSpc>
              <a:spcBef>
                <a:spcPct val="0"/>
              </a:spcBef>
            </a:pPr>
            <a:r>
              <a:rPr lang="en-US" sz="4380">
                <a:solidFill>
                  <a:srgbClr val="000000"/>
                </a:solidFill>
                <a:latin typeface="Ovo"/>
                <a:ea typeface="Ovo"/>
                <a:cs typeface="Ovo"/>
                <a:sym typeface="Ovo"/>
              </a:rPr>
              <a:t>Non-Linea</a:t>
            </a:r>
            <a:r>
              <a:rPr lang="en-US" sz="4380">
                <a:solidFill>
                  <a:srgbClr val="000000"/>
                </a:solidFill>
                <a:latin typeface="Ovo"/>
                <a:ea typeface="Ovo"/>
                <a:cs typeface="Ovo"/>
                <a:sym typeface="Ovo"/>
              </a:rPr>
              <a:t>r Modeling</a:t>
            </a:r>
          </a:p>
          <a:p>
            <a:pPr algn="l" marL="945825" indent="-472912" lvl="1">
              <a:lnSpc>
                <a:spcPts val="6133"/>
              </a:lnSpc>
              <a:spcBef>
                <a:spcPct val="0"/>
              </a:spcBef>
              <a:buFont typeface="Arial"/>
              <a:buChar char="•"/>
            </a:pPr>
            <a:r>
              <a:rPr lang="en-US" sz="4380">
                <a:solidFill>
                  <a:srgbClr val="000000"/>
                </a:solidFill>
                <a:latin typeface="Ovo"/>
                <a:ea typeface="Ovo"/>
                <a:cs typeface="Ovo"/>
                <a:sym typeface="Ovo"/>
              </a:rPr>
              <a:t>Can learn complex relationships between clinical parameters.</a:t>
            </a:r>
          </a:p>
          <a:p>
            <a:pPr algn="l" marL="945825" indent="-472912" lvl="1">
              <a:lnSpc>
                <a:spcPts val="6133"/>
              </a:lnSpc>
              <a:spcBef>
                <a:spcPct val="0"/>
              </a:spcBef>
              <a:buFont typeface="Arial"/>
              <a:buChar char="•"/>
            </a:pPr>
            <a:r>
              <a:rPr lang="en-US" sz="4380">
                <a:solidFill>
                  <a:srgbClr val="000000"/>
                </a:solidFill>
                <a:latin typeface="Ovo"/>
                <a:ea typeface="Ovo"/>
                <a:cs typeface="Ovo"/>
                <a:sym typeface="Ovo"/>
              </a:rPr>
              <a:t>No need to manually define rules for every parameter combination.</a:t>
            </a:r>
          </a:p>
          <a:p>
            <a:pPr algn="l">
              <a:lnSpc>
                <a:spcPts val="6133"/>
              </a:lnSpc>
              <a:spcBef>
                <a:spcPct val="0"/>
              </a:spcBef>
            </a:pPr>
            <a:r>
              <a:rPr lang="en-US" sz="4380">
                <a:solidFill>
                  <a:srgbClr val="000000"/>
                </a:solidFill>
                <a:latin typeface="Ovo"/>
                <a:ea typeface="Ovo"/>
                <a:cs typeface="Ovo"/>
                <a:sym typeface="Ovo"/>
              </a:rPr>
              <a:t>Feature Interaction</a:t>
            </a:r>
          </a:p>
          <a:p>
            <a:pPr algn="l" marL="945825" indent="-472912" lvl="1">
              <a:lnSpc>
                <a:spcPts val="6133"/>
              </a:lnSpc>
              <a:spcBef>
                <a:spcPct val="0"/>
              </a:spcBef>
              <a:buFont typeface="Arial"/>
              <a:buChar char="•"/>
            </a:pPr>
            <a:r>
              <a:rPr lang="en-US" sz="4380">
                <a:solidFill>
                  <a:srgbClr val="000000"/>
                </a:solidFill>
                <a:latin typeface="Ovo"/>
                <a:ea typeface="Ovo"/>
                <a:cs typeface="Ovo"/>
                <a:sym typeface="Ovo"/>
              </a:rPr>
              <a:t>Can capture interactions among different patient measurements.</a:t>
            </a:r>
          </a:p>
          <a:p>
            <a:pPr algn="l">
              <a:lnSpc>
                <a:spcPts val="6133"/>
              </a:lnSpc>
              <a:spcBef>
                <a:spcPct val="0"/>
              </a:spcBef>
            </a:pPr>
            <a:r>
              <a:rPr lang="en-US" sz="4380">
                <a:solidFill>
                  <a:srgbClr val="000000"/>
                </a:solidFill>
                <a:latin typeface="Ovo"/>
                <a:ea typeface="Ovo"/>
                <a:cs typeface="Ovo"/>
                <a:sym typeface="Ovo"/>
              </a:rPr>
              <a:t>Efficient Training</a:t>
            </a:r>
          </a:p>
          <a:p>
            <a:pPr algn="l" marL="945825" indent="-472912" lvl="1">
              <a:lnSpc>
                <a:spcPts val="6133"/>
              </a:lnSpc>
              <a:spcBef>
                <a:spcPct val="0"/>
              </a:spcBef>
              <a:buFont typeface="Arial"/>
              <a:buChar char="•"/>
            </a:pPr>
            <a:r>
              <a:rPr lang="en-US" sz="4380">
                <a:solidFill>
                  <a:srgbClr val="000000"/>
                </a:solidFill>
                <a:latin typeface="Ovo"/>
                <a:ea typeface="Ovo"/>
                <a:cs typeface="Ovo"/>
                <a:sym typeface="Ovo"/>
              </a:rPr>
              <a:t>LightGBM is designed for fast and efficient gradient boosting.</a:t>
            </a:r>
          </a:p>
          <a:p>
            <a:pPr algn="l">
              <a:lnSpc>
                <a:spcPts val="6133"/>
              </a:lnSpc>
              <a:spcBef>
                <a:spcPct val="0"/>
              </a:spcBef>
            </a:pPr>
            <a:r>
              <a:rPr lang="en-US" sz="4380">
                <a:solidFill>
                  <a:srgbClr val="000000"/>
                </a:solidFill>
                <a:latin typeface="Ovo"/>
                <a:ea typeface="Ovo"/>
                <a:cs typeface="Ovo"/>
                <a:sym typeface="Ovo"/>
              </a:rPr>
              <a:t>Regularization</a:t>
            </a:r>
          </a:p>
          <a:p>
            <a:pPr algn="l" marL="945825" indent="-472912" lvl="1">
              <a:lnSpc>
                <a:spcPts val="6133"/>
              </a:lnSpc>
              <a:spcBef>
                <a:spcPct val="0"/>
              </a:spcBef>
              <a:buFont typeface="Arial"/>
              <a:buChar char="•"/>
            </a:pPr>
            <a:r>
              <a:rPr lang="en-US" sz="4380">
                <a:solidFill>
                  <a:srgbClr val="000000"/>
                </a:solidFill>
                <a:latin typeface="Ovo"/>
                <a:ea typeface="Ovo"/>
                <a:cs typeface="Ovo"/>
                <a:sym typeface="Ovo"/>
              </a:rPr>
              <a:t>XGBoost provides regularization techniques that help reduce overfitting.</a:t>
            </a:r>
          </a:p>
          <a:p>
            <a:pPr algn="l" marL="0" indent="0" lvl="0">
              <a:lnSpc>
                <a:spcPts val="6133"/>
              </a:lnSpc>
              <a:spcBef>
                <a:spcPct val="0"/>
              </a:spcBef>
            </a:pP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6</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41498" y="487363"/>
            <a:ext cx="13422789" cy="1149350"/>
          </a:xfrm>
          <a:prstGeom prst="rect">
            <a:avLst/>
          </a:prstGeom>
        </p:spPr>
        <p:txBody>
          <a:bodyPr anchor="t" rtlCol="false" tIns="0" lIns="0" bIns="0" rIns="0">
            <a:spAutoFit/>
          </a:bodyPr>
          <a:lstStyle/>
          <a:p>
            <a:pPr algn="l" marL="0" indent="0" lvl="0">
              <a:lnSpc>
                <a:spcPts val="8800"/>
              </a:lnSpc>
            </a:pPr>
            <a:r>
              <a:rPr lang="en-US" sz="8000">
                <a:solidFill>
                  <a:srgbClr val="A86D3A"/>
                </a:solidFill>
                <a:latin typeface="Ovo"/>
                <a:ea typeface="Ovo"/>
                <a:cs typeface="Ovo"/>
                <a:sym typeface="Ovo"/>
              </a:rPr>
              <a:t>CHOOSING</a:t>
            </a:r>
            <a:r>
              <a:rPr lang="en-US" sz="8000">
                <a:solidFill>
                  <a:srgbClr val="A86D3A"/>
                </a:solidFill>
                <a:latin typeface="Ovo"/>
                <a:ea typeface="Ovo"/>
                <a:cs typeface="Ovo"/>
                <a:sym typeface="Ovo"/>
              </a:rPr>
              <a:t> DATASET</a:t>
            </a:r>
          </a:p>
        </p:txBody>
      </p:sp>
      <p:sp>
        <p:nvSpPr>
          <p:cNvPr name="TextBox 3" id="3"/>
          <p:cNvSpPr txBox="true"/>
          <p:nvPr/>
        </p:nvSpPr>
        <p:spPr>
          <a:xfrm rot="0">
            <a:off x="269697" y="1828399"/>
            <a:ext cx="18498330" cy="8561006"/>
          </a:xfrm>
          <a:prstGeom prst="rect">
            <a:avLst/>
          </a:prstGeom>
        </p:spPr>
        <p:txBody>
          <a:bodyPr anchor="t" rtlCol="false" tIns="0" lIns="0" bIns="0" rIns="0">
            <a:spAutoFit/>
          </a:bodyPr>
          <a:lstStyle/>
          <a:p>
            <a:pPr algn="l">
              <a:lnSpc>
                <a:spcPts val="6758"/>
              </a:lnSpc>
              <a:spcBef>
                <a:spcPct val="0"/>
              </a:spcBef>
            </a:pPr>
            <a:r>
              <a:rPr lang="en-US" sz="4827">
                <a:solidFill>
                  <a:srgbClr val="000000"/>
                </a:solidFill>
                <a:latin typeface="Ovo"/>
                <a:ea typeface="Ovo"/>
                <a:cs typeface="Ovo"/>
                <a:sym typeface="Ovo"/>
              </a:rPr>
              <a:t>Target Va</a:t>
            </a:r>
            <a:r>
              <a:rPr lang="en-US" sz="4827">
                <a:solidFill>
                  <a:srgbClr val="000000"/>
                </a:solidFill>
                <a:latin typeface="Ovo"/>
                <a:ea typeface="Ovo"/>
                <a:cs typeface="Ovo"/>
                <a:sym typeface="Ovo"/>
              </a:rPr>
              <a:t>riable:</a:t>
            </a:r>
          </a:p>
          <a:p>
            <a:pPr algn="l">
              <a:lnSpc>
                <a:spcPts val="6058"/>
              </a:lnSpc>
              <a:spcBef>
                <a:spcPct val="0"/>
              </a:spcBef>
            </a:pPr>
            <a:r>
              <a:rPr lang="en-US" sz="4327">
                <a:solidFill>
                  <a:srgbClr val="000000"/>
                </a:solidFill>
                <a:latin typeface="Ovo"/>
                <a:ea typeface="Ovo"/>
                <a:cs typeface="Ovo"/>
                <a:sym typeface="Ovo"/>
              </a:rPr>
              <a:t>The target variable represents the CKD classification, with two possible outcomes: CKD and Not CKD.</a:t>
            </a:r>
          </a:p>
          <a:p>
            <a:pPr algn="l">
              <a:lnSpc>
                <a:spcPts val="6338"/>
              </a:lnSpc>
              <a:spcBef>
                <a:spcPct val="0"/>
              </a:spcBef>
            </a:pPr>
            <a:r>
              <a:rPr lang="en-US" sz="4527">
                <a:solidFill>
                  <a:srgbClr val="000000"/>
                </a:solidFill>
                <a:latin typeface="Ovo"/>
                <a:ea typeface="Ovo"/>
                <a:cs typeface="Ovo"/>
                <a:sym typeface="Ovo"/>
              </a:rPr>
              <a:t>Clinical &amp; Laboratory Inputs:</a:t>
            </a:r>
          </a:p>
          <a:p>
            <a:pPr algn="l">
              <a:lnSpc>
                <a:spcPts val="6058"/>
              </a:lnSpc>
              <a:spcBef>
                <a:spcPct val="0"/>
              </a:spcBef>
            </a:pPr>
            <a:r>
              <a:rPr lang="en-US" sz="4327">
                <a:solidFill>
                  <a:srgbClr val="000000"/>
                </a:solidFill>
                <a:latin typeface="Ovo"/>
                <a:ea typeface="Ovo"/>
                <a:cs typeface="Ovo"/>
                <a:sym typeface="Ovo"/>
              </a:rPr>
              <a:t>The dataset contains patient information such as age, blood pressure, blood glucose, blood urea, serum creatinine, hemoglobin, albumin, and sugar.</a:t>
            </a:r>
          </a:p>
          <a:p>
            <a:pPr algn="just">
              <a:lnSpc>
                <a:spcPts val="6478"/>
              </a:lnSpc>
              <a:spcBef>
                <a:spcPct val="0"/>
              </a:spcBef>
            </a:pPr>
            <a:r>
              <a:rPr lang="en-US" sz="4627">
                <a:solidFill>
                  <a:srgbClr val="000000"/>
                </a:solidFill>
                <a:latin typeface="Ovo"/>
                <a:ea typeface="Ovo"/>
                <a:cs typeface="Ovo"/>
                <a:sym typeface="Ovo"/>
              </a:rPr>
              <a:t>Data Preparation:</a:t>
            </a:r>
          </a:p>
          <a:p>
            <a:pPr algn="l">
              <a:lnSpc>
                <a:spcPts val="6058"/>
              </a:lnSpc>
              <a:spcBef>
                <a:spcPct val="0"/>
              </a:spcBef>
            </a:pPr>
            <a:r>
              <a:rPr lang="en-US" sz="4327">
                <a:solidFill>
                  <a:srgbClr val="000000"/>
                </a:solidFill>
                <a:latin typeface="Ovo"/>
                <a:ea typeface="Ovo"/>
                <a:cs typeface="Ovo"/>
                <a:sym typeface="Ovo"/>
              </a:rPr>
              <a:t>The dataset will be prepared by handling missing values, converting categorical values into numerical form, and handling incorrect or inconsistent data.</a:t>
            </a:r>
          </a:p>
          <a:p>
            <a:pPr algn="l" marL="0" indent="0" lvl="0">
              <a:lnSpc>
                <a:spcPts val="6058"/>
              </a:lnSpc>
              <a:spcBef>
                <a:spcPct val="0"/>
              </a:spcBef>
            </a:pP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99192" y="2041653"/>
            <a:ext cx="15608743" cy="8549343"/>
          </a:xfrm>
          <a:custGeom>
            <a:avLst/>
            <a:gdLst/>
            <a:ahLst/>
            <a:cxnLst/>
            <a:rect r="r" b="b" t="t" l="l"/>
            <a:pathLst>
              <a:path h="8549343" w="15608743">
                <a:moveTo>
                  <a:pt x="0" y="0"/>
                </a:moveTo>
                <a:lnTo>
                  <a:pt x="15608743" y="0"/>
                </a:lnTo>
                <a:lnTo>
                  <a:pt x="15608743" y="8549343"/>
                </a:lnTo>
                <a:lnTo>
                  <a:pt x="0" y="8549343"/>
                </a:lnTo>
                <a:lnTo>
                  <a:pt x="0" y="0"/>
                </a:lnTo>
                <a:close/>
              </a:path>
            </a:pathLst>
          </a:custGeom>
          <a:blipFill>
            <a:blip r:embed="rId2"/>
            <a:stretch>
              <a:fillRect l="0" t="-1990" r="0" b="-1990"/>
            </a:stretch>
          </a:blipFill>
        </p:spPr>
      </p:sp>
      <p:sp>
        <p:nvSpPr>
          <p:cNvPr name="TextBox 3" id="3"/>
          <p:cNvSpPr txBox="true"/>
          <p:nvPr/>
        </p:nvSpPr>
        <p:spPr>
          <a:xfrm rot="0">
            <a:off x="0" y="268854"/>
            <a:ext cx="18288000" cy="2204085"/>
          </a:xfrm>
          <a:prstGeom prst="rect">
            <a:avLst/>
          </a:prstGeom>
        </p:spPr>
        <p:txBody>
          <a:bodyPr anchor="t" rtlCol="false" tIns="0" lIns="0" bIns="0" rIns="0">
            <a:spAutoFit/>
          </a:bodyPr>
          <a:lstStyle/>
          <a:p>
            <a:pPr algn="l" marL="0" indent="0" lvl="0">
              <a:lnSpc>
                <a:spcPts val="8580"/>
              </a:lnSpc>
            </a:pPr>
            <a:r>
              <a:rPr lang="en-US" sz="7800">
                <a:solidFill>
                  <a:srgbClr val="A86D3A"/>
                </a:solidFill>
                <a:latin typeface="Ovo"/>
                <a:ea typeface="Ovo"/>
                <a:cs typeface="Ovo"/>
                <a:sym typeface="Ovo"/>
              </a:rPr>
              <a:t>DATASET</a:t>
            </a:r>
            <a:r>
              <a:rPr lang="en-US" sz="7800">
                <a:solidFill>
                  <a:srgbClr val="A86D3A"/>
                </a:solidFill>
                <a:latin typeface="Ovo"/>
                <a:ea typeface="Ovo"/>
                <a:cs typeface="Ovo"/>
                <a:sym typeface="Ovo"/>
              </a:rPr>
              <a:t> SCHEMA &amp; FEATURE STRUCTURE</a:t>
            </a: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8</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02109" y="754063"/>
            <a:ext cx="14486777" cy="1149350"/>
          </a:xfrm>
          <a:prstGeom prst="rect">
            <a:avLst/>
          </a:prstGeom>
        </p:spPr>
        <p:txBody>
          <a:bodyPr anchor="t" rtlCol="false" tIns="0" lIns="0" bIns="0" rIns="0">
            <a:spAutoFit/>
          </a:bodyPr>
          <a:lstStyle/>
          <a:p>
            <a:pPr algn="l" marL="0" indent="0" lvl="0">
              <a:lnSpc>
                <a:spcPts val="8800"/>
              </a:lnSpc>
            </a:pPr>
            <a:r>
              <a:rPr lang="en-US" sz="8000">
                <a:solidFill>
                  <a:srgbClr val="A86D3A"/>
                </a:solidFill>
                <a:latin typeface="Ovo"/>
                <a:ea typeface="Ovo"/>
                <a:cs typeface="Ovo"/>
                <a:sym typeface="Ovo"/>
              </a:rPr>
              <a:t> DATASET SCALE &amp; VOLUME</a:t>
            </a:r>
          </a:p>
        </p:txBody>
      </p:sp>
      <p:sp>
        <p:nvSpPr>
          <p:cNvPr name="TextBox 3" id="3"/>
          <p:cNvSpPr txBox="true"/>
          <p:nvPr/>
        </p:nvSpPr>
        <p:spPr>
          <a:xfrm rot="0">
            <a:off x="209058" y="2283683"/>
            <a:ext cx="20205530" cy="5601091"/>
          </a:xfrm>
          <a:prstGeom prst="rect">
            <a:avLst/>
          </a:prstGeom>
        </p:spPr>
        <p:txBody>
          <a:bodyPr anchor="t" rtlCol="false" tIns="0" lIns="0" bIns="0" rIns="0">
            <a:spAutoFit/>
          </a:bodyPr>
          <a:lstStyle/>
          <a:p>
            <a:pPr algn="l" marL="974993" indent="-487496" lvl="1">
              <a:lnSpc>
                <a:spcPts val="6322"/>
              </a:lnSpc>
              <a:spcBef>
                <a:spcPct val="0"/>
              </a:spcBef>
              <a:buFont typeface="Arial"/>
              <a:buChar char="•"/>
            </a:pPr>
            <a:r>
              <a:rPr lang="en-US" sz="4515">
                <a:solidFill>
                  <a:srgbClr val="000000"/>
                </a:solidFill>
                <a:latin typeface="Ovo"/>
                <a:ea typeface="Ovo"/>
                <a:cs typeface="Ovo"/>
                <a:sym typeface="Ovo"/>
              </a:rPr>
              <a:t>Datas</a:t>
            </a:r>
            <a:r>
              <a:rPr lang="en-US" sz="4515">
                <a:solidFill>
                  <a:srgbClr val="000000"/>
                </a:solidFill>
                <a:latin typeface="Ovo"/>
                <a:ea typeface="Ovo"/>
                <a:cs typeface="Ovo"/>
                <a:sym typeface="Ovo"/>
              </a:rPr>
              <a:t>et Type: Structured tabular medical dataset</a:t>
            </a:r>
          </a:p>
          <a:p>
            <a:pPr algn="l" marL="974993" indent="-487496" lvl="1">
              <a:lnSpc>
                <a:spcPts val="6322"/>
              </a:lnSpc>
              <a:spcBef>
                <a:spcPct val="0"/>
              </a:spcBef>
              <a:buFont typeface="Arial"/>
              <a:buChar char="•"/>
            </a:pPr>
            <a:r>
              <a:rPr lang="en-US" sz="4515">
                <a:solidFill>
                  <a:srgbClr val="000000"/>
                </a:solidFill>
                <a:latin typeface="Ovo"/>
                <a:ea typeface="Ovo"/>
                <a:cs typeface="Ovo"/>
                <a:sym typeface="Ovo"/>
              </a:rPr>
              <a:t>Task: Binary Classification</a:t>
            </a:r>
          </a:p>
          <a:p>
            <a:pPr algn="l" marL="974993" indent="-487496" lvl="1">
              <a:lnSpc>
                <a:spcPts val="6322"/>
              </a:lnSpc>
              <a:spcBef>
                <a:spcPct val="0"/>
              </a:spcBef>
              <a:buFont typeface="Arial"/>
              <a:buChar char="•"/>
            </a:pPr>
            <a:r>
              <a:rPr lang="en-US" sz="4515">
                <a:solidFill>
                  <a:srgbClr val="000000"/>
                </a:solidFill>
                <a:latin typeface="Ovo"/>
                <a:ea typeface="Ovo"/>
                <a:cs typeface="Ovo"/>
                <a:sym typeface="Ovo"/>
              </a:rPr>
              <a:t>Target: CKD / Not CKD</a:t>
            </a:r>
          </a:p>
          <a:p>
            <a:pPr algn="l" marL="974993" indent="-487496" lvl="1">
              <a:lnSpc>
                <a:spcPts val="6322"/>
              </a:lnSpc>
              <a:spcBef>
                <a:spcPct val="0"/>
              </a:spcBef>
              <a:buFont typeface="Arial"/>
              <a:buChar char="•"/>
            </a:pPr>
            <a:r>
              <a:rPr lang="en-US" sz="4515">
                <a:solidFill>
                  <a:srgbClr val="000000"/>
                </a:solidFill>
                <a:latin typeface="Ovo"/>
                <a:ea typeface="Ovo"/>
                <a:cs typeface="Ovo"/>
                <a:sym typeface="Ovo"/>
              </a:rPr>
              <a:t>Features: Clinical and laboratory patient parameters</a:t>
            </a:r>
          </a:p>
          <a:p>
            <a:pPr algn="l" marL="974993" indent="-487496" lvl="1">
              <a:lnSpc>
                <a:spcPts val="6322"/>
              </a:lnSpc>
              <a:spcBef>
                <a:spcPct val="0"/>
              </a:spcBef>
              <a:buFont typeface="Arial"/>
              <a:buChar char="•"/>
            </a:pPr>
            <a:r>
              <a:rPr lang="en-US" sz="4515">
                <a:solidFill>
                  <a:srgbClr val="000000"/>
                </a:solidFill>
                <a:latin typeface="Ovo"/>
                <a:ea typeface="Ovo"/>
                <a:cs typeface="Ovo"/>
                <a:sym typeface="Ovo"/>
              </a:rPr>
              <a:t>Rows: To be filled from selected dataset</a:t>
            </a:r>
          </a:p>
          <a:p>
            <a:pPr algn="l" marL="974993" indent="-487496" lvl="1">
              <a:lnSpc>
                <a:spcPts val="6322"/>
              </a:lnSpc>
              <a:spcBef>
                <a:spcPct val="0"/>
              </a:spcBef>
              <a:buFont typeface="Arial"/>
              <a:buChar char="•"/>
            </a:pPr>
            <a:r>
              <a:rPr lang="en-US" sz="4515">
                <a:solidFill>
                  <a:srgbClr val="000000"/>
                </a:solidFill>
                <a:latin typeface="Ovo"/>
                <a:ea typeface="Ovo"/>
                <a:cs typeface="Ovo"/>
                <a:sym typeface="Ovo"/>
              </a:rPr>
              <a:t>Columns: To be filled from selected dataset</a:t>
            </a:r>
          </a:p>
          <a:p>
            <a:pPr algn="l" marL="0" indent="0" lvl="0">
              <a:lnSpc>
                <a:spcPts val="6322"/>
              </a:lnSpc>
              <a:spcBef>
                <a:spcPct val="0"/>
              </a:spcBef>
            </a:pP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9</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54063"/>
            <a:ext cx="13422789" cy="1149350"/>
          </a:xfrm>
          <a:prstGeom prst="rect">
            <a:avLst/>
          </a:prstGeom>
        </p:spPr>
        <p:txBody>
          <a:bodyPr anchor="t" rtlCol="false" tIns="0" lIns="0" bIns="0" rIns="0">
            <a:spAutoFit/>
          </a:bodyPr>
          <a:lstStyle/>
          <a:p>
            <a:pPr algn="l" marL="0" indent="0" lvl="0">
              <a:lnSpc>
                <a:spcPts val="8800"/>
              </a:lnSpc>
            </a:pPr>
            <a:r>
              <a:rPr lang="en-US" sz="8000">
                <a:solidFill>
                  <a:srgbClr val="A86D3A"/>
                </a:solidFill>
                <a:latin typeface="Ovo"/>
                <a:ea typeface="Ovo"/>
                <a:cs typeface="Ovo"/>
                <a:sym typeface="Ovo"/>
              </a:rPr>
              <a:t>EXPECTED</a:t>
            </a:r>
            <a:r>
              <a:rPr lang="en-US" sz="8000">
                <a:solidFill>
                  <a:srgbClr val="A86D3A"/>
                </a:solidFill>
                <a:latin typeface="Ovo"/>
                <a:ea typeface="Ovo"/>
                <a:cs typeface="Ovo"/>
                <a:sym typeface="Ovo"/>
              </a:rPr>
              <a:t> OUTCOME</a:t>
            </a:r>
          </a:p>
        </p:txBody>
      </p:sp>
      <p:sp>
        <p:nvSpPr>
          <p:cNvPr name="TextBox 3" id="3"/>
          <p:cNvSpPr txBox="true"/>
          <p:nvPr/>
        </p:nvSpPr>
        <p:spPr>
          <a:xfrm rot="0">
            <a:off x="312174" y="1974559"/>
            <a:ext cx="17384309" cy="7030192"/>
          </a:xfrm>
          <a:prstGeom prst="rect">
            <a:avLst/>
          </a:prstGeom>
        </p:spPr>
        <p:txBody>
          <a:bodyPr anchor="t" rtlCol="false" tIns="0" lIns="0" bIns="0" rIns="0">
            <a:spAutoFit/>
          </a:bodyPr>
          <a:lstStyle/>
          <a:p>
            <a:pPr algn="l" marL="1068820" indent="-534410" lvl="1">
              <a:lnSpc>
                <a:spcPts val="6930"/>
              </a:lnSpc>
              <a:spcBef>
                <a:spcPct val="0"/>
              </a:spcBef>
              <a:buFont typeface="Arial"/>
              <a:buChar char="•"/>
            </a:pPr>
            <a:r>
              <a:rPr lang="en-US" sz="4950">
                <a:solidFill>
                  <a:srgbClr val="000000"/>
                </a:solidFill>
                <a:latin typeface="Ovo"/>
                <a:ea typeface="Ovo"/>
                <a:cs typeface="Ovo"/>
                <a:sym typeface="Ovo"/>
              </a:rPr>
              <a:t>Develop a machine-lea</a:t>
            </a:r>
            <a:r>
              <a:rPr lang="en-US" sz="4950">
                <a:solidFill>
                  <a:srgbClr val="000000"/>
                </a:solidFill>
                <a:latin typeface="Ovo"/>
                <a:ea typeface="Ovo"/>
                <a:cs typeface="Ovo"/>
                <a:sym typeface="Ovo"/>
              </a:rPr>
              <a:t>rning-based CKD classification system.</a:t>
            </a:r>
          </a:p>
          <a:p>
            <a:pPr algn="l" marL="1068820" indent="-534410" lvl="1">
              <a:lnSpc>
                <a:spcPts val="6930"/>
              </a:lnSpc>
              <a:spcBef>
                <a:spcPct val="0"/>
              </a:spcBef>
              <a:buFont typeface="Arial"/>
              <a:buChar char="•"/>
            </a:pPr>
            <a:r>
              <a:rPr lang="en-US" sz="4950">
                <a:solidFill>
                  <a:srgbClr val="000000"/>
                </a:solidFill>
                <a:latin typeface="Ovo"/>
                <a:ea typeface="Ovo"/>
                <a:cs typeface="Ovo"/>
                <a:sym typeface="Ovo"/>
              </a:rPr>
              <a:t>Predict CKD / Not CKD using patient clinical data.</a:t>
            </a:r>
          </a:p>
          <a:p>
            <a:pPr algn="l" marL="1068820" indent="-534410" lvl="1">
              <a:lnSpc>
                <a:spcPts val="6930"/>
              </a:lnSpc>
              <a:spcBef>
                <a:spcPct val="0"/>
              </a:spcBef>
              <a:buFont typeface="Arial"/>
              <a:buChar char="•"/>
            </a:pPr>
            <a:r>
              <a:rPr lang="en-US" sz="4950">
                <a:solidFill>
                  <a:srgbClr val="000000"/>
                </a:solidFill>
                <a:latin typeface="Ovo"/>
                <a:ea typeface="Ovo"/>
                <a:cs typeface="Ovo"/>
                <a:sym typeface="Ovo"/>
              </a:rPr>
              <a:t>Evaluate XGBoost and LightGBM using multiple metrics.</a:t>
            </a:r>
          </a:p>
          <a:p>
            <a:pPr algn="l" marL="1068820" indent="-534410" lvl="1">
              <a:lnSpc>
                <a:spcPts val="6930"/>
              </a:lnSpc>
              <a:spcBef>
                <a:spcPct val="0"/>
              </a:spcBef>
              <a:buFont typeface="Arial"/>
              <a:buChar char="•"/>
            </a:pPr>
            <a:r>
              <a:rPr lang="en-US" sz="4950">
                <a:solidFill>
                  <a:srgbClr val="000000"/>
                </a:solidFill>
                <a:latin typeface="Ovo"/>
                <a:ea typeface="Ovo"/>
                <a:cs typeface="Ovo"/>
                <a:sym typeface="Ovo"/>
              </a:rPr>
              <a:t>Analyze the performance of both models.</a:t>
            </a:r>
          </a:p>
          <a:p>
            <a:pPr algn="l" marL="1068820" indent="-534410" lvl="1">
              <a:lnSpc>
                <a:spcPts val="6930"/>
              </a:lnSpc>
              <a:spcBef>
                <a:spcPct val="0"/>
              </a:spcBef>
              <a:buFont typeface="Arial"/>
              <a:buChar char="•"/>
            </a:pPr>
            <a:r>
              <a:rPr lang="en-US" sz="4950">
                <a:solidFill>
                  <a:srgbClr val="000000"/>
                </a:solidFill>
                <a:latin typeface="Ovo"/>
                <a:ea typeface="Ovo"/>
                <a:cs typeface="Ovo"/>
                <a:sym typeface="Ovo"/>
              </a:rPr>
              <a:t>Compare the models based on the obtained evaluation results.</a:t>
            </a:r>
          </a:p>
          <a:p>
            <a:pPr algn="l" marL="0" indent="0" lvl="0">
              <a:lnSpc>
                <a:spcPts val="6930"/>
              </a:lnSpc>
              <a:spcBef>
                <a:spcPct val="0"/>
              </a:spcBef>
            </a:pP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10</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1906" y="754063"/>
            <a:ext cx="13422789" cy="1149350"/>
          </a:xfrm>
          <a:prstGeom prst="rect">
            <a:avLst/>
          </a:prstGeom>
        </p:spPr>
        <p:txBody>
          <a:bodyPr anchor="t" rtlCol="false" tIns="0" lIns="0" bIns="0" rIns="0">
            <a:spAutoFit/>
          </a:bodyPr>
          <a:lstStyle/>
          <a:p>
            <a:pPr algn="l" marL="0" indent="0" lvl="0">
              <a:lnSpc>
                <a:spcPts val="8800"/>
              </a:lnSpc>
            </a:pPr>
            <a:r>
              <a:rPr lang="en-US" sz="8000">
                <a:solidFill>
                  <a:srgbClr val="A86D3A"/>
                </a:solidFill>
                <a:latin typeface="Ovo"/>
                <a:ea typeface="Ovo"/>
                <a:cs typeface="Ovo"/>
                <a:sym typeface="Ovo"/>
              </a:rPr>
              <a:t>CONCLUSION</a:t>
            </a:r>
          </a:p>
        </p:txBody>
      </p:sp>
      <p:sp>
        <p:nvSpPr>
          <p:cNvPr name="TextBox 3" id="3"/>
          <p:cNvSpPr txBox="true"/>
          <p:nvPr/>
        </p:nvSpPr>
        <p:spPr>
          <a:xfrm rot="0">
            <a:off x="272079" y="2087253"/>
            <a:ext cx="18015921" cy="6881324"/>
          </a:xfrm>
          <a:prstGeom prst="rect">
            <a:avLst/>
          </a:prstGeom>
        </p:spPr>
        <p:txBody>
          <a:bodyPr anchor="t" rtlCol="false" tIns="0" lIns="0" bIns="0" rIns="0">
            <a:spAutoFit/>
          </a:bodyPr>
          <a:lstStyle/>
          <a:p>
            <a:pPr algn="l" marL="0" indent="0" lvl="0">
              <a:lnSpc>
                <a:spcPts val="7781"/>
              </a:lnSpc>
              <a:spcBef>
                <a:spcPct val="0"/>
              </a:spcBef>
            </a:pPr>
            <a:r>
              <a:rPr lang="en-US" sz="5558">
                <a:solidFill>
                  <a:srgbClr val="000000"/>
                </a:solidFill>
                <a:latin typeface="Ovo"/>
                <a:ea typeface="Ovo"/>
                <a:cs typeface="Ovo"/>
                <a:sym typeface="Ovo"/>
              </a:rPr>
              <a:t>This p</a:t>
            </a:r>
            <a:r>
              <a:rPr lang="en-US" sz="5558">
                <a:solidFill>
                  <a:srgbClr val="000000"/>
                </a:solidFill>
                <a:latin typeface="Ovo"/>
                <a:ea typeface="Ovo"/>
                <a:cs typeface="Ovo"/>
                <a:sym typeface="Ovo"/>
              </a:rPr>
              <a:t>roject applies machine learning to Chronic Kidney Disease classification using patient clinical data. XGBoost and LightGBM are trained to classify patients as CKD or Not CKD. Their performance is evaluated using accuracy, precision, recall, F1-score, specificity, ROC-AUC and confusion matrix, providing a systematic comparison of the two gradient-boosted tree models.</a:t>
            </a:r>
          </a:p>
        </p:txBody>
      </p:sp>
      <p:sp>
        <p:nvSpPr>
          <p:cNvPr name="TextBox 4" id="4"/>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11</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096949" y="3989717"/>
            <a:ext cx="14619835" cy="1525344"/>
          </a:xfrm>
          <a:prstGeom prst="rect">
            <a:avLst/>
          </a:prstGeom>
        </p:spPr>
        <p:txBody>
          <a:bodyPr anchor="t" rtlCol="false" tIns="0" lIns="0" bIns="0" rIns="0">
            <a:spAutoFit/>
          </a:bodyPr>
          <a:lstStyle/>
          <a:p>
            <a:pPr algn="l" marL="0" indent="0" lvl="0">
              <a:lnSpc>
                <a:spcPts val="11658"/>
              </a:lnSpc>
            </a:pPr>
            <a:r>
              <a:rPr lang="en-US" sz="10598">
                <a:solidFill>
                  <a:srgbClr val="A86D3A"/>
                </a:solidFill>
                <a:latin typeface="Ovo"/>
                <a:ea typeface="Ovo"/>
                <a:cs typeface="Ovo"/>
                <a:sym typeface="Ovo"/>
              </a:rPr>
              <a:t>THANK YOU</a:t>
            </a:r>
          </a:p>
        </p:txBody>
      </p:sp>
      <p:sp>
        <p:nvSpPr>
          <p:cNvPr name="TextBox 3" id="3"/>
          <p:cNvSpPr txBox="true"/>
          <p:nvPr/>
        </p:nvSpPr>
        <p:spPr>
          <a:xfrm rot="0">
            <a:off x="17449800" y="4889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A86D3A"/>
                </a:solidFill>
                <a:latin typeface="Ovo"/>
                <a:ea typeface="Ovo"/>
                <a:cs typeface="Ovo"/>
                <a:sym typeface="Ovo"/>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DAHVdrcoZN8</dc:identifier>
  <dcterms:modified xsi:type="dcterms:W3CDTF">2011-08-01T06:04:30Z</dcterms:modified>
  <cp:revision>1</cp:revision>
  <dc:title>Chronic Kidney Disease Prediction Using XGBoost and LightGBM Gradient-Boosted Trees</dc:title>
</cp:coreProperties>
</file>